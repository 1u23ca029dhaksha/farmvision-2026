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0" r:id="rId5"/>
    <p:sldId id="309" r:id="rId6"/>
    <p:sldId id="312" r:id="rId7"/>
    <p:sldId id="311" r:id="rId8"/>
    <p:sldId id="306" r:id="rId9"/>
    <p:sldId id="305" r:id="rId10"/>
    <p:sldId id="314" r:id="rId11"/>
    <p:sldId id="302" r:id="rId12"/>
    <p:sldId id="301" r:id="rId13"/>
    <p:sldId id="300" r:id="rId14"/>
    <p:sldId id="299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6977"/>
    <a:srgbClr val="F5F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94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252186-C111-43A8-A0F7-F77FFDE4DF8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6CFAD-C154-4C9C-AD01-665A505506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BBB5B-F3DE-41D7-B279-483D20E8E363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62BC0-7DC4-4569-951D-2BB9475345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anchor="ctr"/>
          <a:lstStyle>
            <a:lvl1pPr algn="ctr">
              <a:defRPr sz="5400" b="1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 dirty="0"/>
              <a:t>Blank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anchor="ctr"/>
          <a:lstStyle>
            <a:lvl1pPr algn="ctr">
              <a:defRPr sz="5400" b="1" cap="all" spc="100" baseline="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Date Placeholder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lnSpc>
                <a:spcPct val="100000"/>
              </a:lnSpc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2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anchor="ctr"/>
          <a:lstStyle>
            <a:lvl1pPr algn="ctr">
              <a:defRPr sz="2400" cap="all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800" spc="10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anchor="b"/>
          <a:lstStyle>
            <a:lvl1pPr algn="ctr">
              <a:defRPr sz="240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hakshasubramani" TargetMode="External"/><Relationship Id="rId2" Type="http://schemas.openxmlformats.org/officeDocument/2006/relationships/hyperlink" Target="mailto:dhakshasubramani@gmail.com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Close-up of a green field">
            <a:extLst>
              <a:ext uri="{FF2B5EF4-FFF2-40B4-BE49-F238E27FC236}">
                <a16:creationId xmlns:a16="http://schemas.microsoft.com/office/drawing/2014/main" id="{FE4A4B5C-D71A-0CFA-A601-EB93F13F5A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59FB5C-FB1E-15AB-D809-3432EEDF2316}"/>
              </a:ext>
            </a:extLst>
          </p:cNvPr>
          <p:cNvSpPr txBox="1"/>
          <p:nvPr/>
        </p:nvSpPr>
        <p:spPr>
          <a:xfrm>
            <a:off x="2278505" y="2549284"/>
            <a:ext cx="6850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Turning Farm Data into Meaningful Insights Using Microsoft Excel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D8571-1C60-057E-4D27-10867FD8E137}"/>
              </a:ext>
            </a:extLst>
          </p:cNvPr>
          <p:cNvSpPr txBox="1"/>
          <p:nvPr/>
        </p:nvSpPr>
        <p:spPr>
          <a:xfrm>
            <a:off x="419724" y="5156616"/>
            <a:ext cx="4347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Project Year:</a:t>
            </a:r>
            <a:r>
              <a:rPr lang="en-IN" dirty="0">
                <a:solidFill>
                  <a:schemeClr val="bg1"/>
                </a:solidFill>
              </a:rPr>
              <a:t> 2026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b="1" dirty="0">
                <a:solidFill>
                  <a:schemeClr val="bg1"/>
                </a:solidFill>
              </a:rPr>
              <a:t>Domain:</a:t>
            </a:r>
            <a:r>
              <a:rPr lang="en-IN" dirty="0">
                <a:solidFill>
                  <a:schemeClr val="bg1"/>
                </a:solidFill>
              </a:rPr>
              <a:t> Data Analytics &amp; Agriculture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8EDF9-8FF0-1655-CBB8-7072F963C0D2}"/>
              </a:ext>
            </a:extLst>
          </p:cNvPr>
          <p:cNvSpPr txBox="1"/>
          <p:nvPr/>
        </p:nvSpPr>
        <p:spPr>
          <a:xfrm>
            <a:off x="1978702" y="1933731"/>
            <a:ext cx="68505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Farmvision-2026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een rolling hills with a sunset">
            <a:extLst>
              <a:ext uri="{FF2B5EF4-FFF2-40B4-BE49-F238E27FC236}">
                <a16:creationId xmlns:a16="http://schemas.microsoft.com/office/drawing/2014/main" id="{565AB0FC-9FCD-FDB2-1D84-F3D855D838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>
          <a:xfrm>
            <a:off x="0" y="0"/>
            <a:ext cx="6772276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3441E10-C985-763B-96F5-D85B4B2E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638" y="779489"/>
            <a:ext cx="3677037" cy="1677570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CREATED THIS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71F230-7A36-CC6D-A18B-C07C598A132E}"/>
              </a:ext>
            </a:extLst>
          </p:cNvPr>
          <p:cNvSpPr txBox="1"/>
          <p:nvPr/>
        </p:nvSpPr>
        <p:spPr>
          <a:xfrm>
            <a:off x="6940446" y="296415"/>
            <a:ext cx="5021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Agriculture is attracting people from different professional backgrounds.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64B574-F058-303B-FD71-446D6550A82A}"/>
              </a:ext>
            </a:extLst>
          </p:cNvPr>
          <p:cNvSpPr txBox="1"/>
          <p:nvPr/>
        </p:nvSpPr>
        <p:spPr>
          <a:xfrm>
            <a:off x="6940446" y="942746"/>
            <a:ext cx="4811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Many first-time farmers are interested in farming but may not have practical agricultural knowledge.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B9B9A-DDF9-6A8E-49E4-18F85ADA2501}"/>
              </a:ext>
            </a:extLst>
          </p:cNvPr>
          <p:cNvSpPr txBox="1"/>
          <p:nvPr/>
        </p:nvSpPr>
        <p:spPr>
          <a:xfrm>
            <a:off x="6940446" y="1806116"/>
            <a:ext cx="4826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 personally experienced this gap when I started exploring agriculture.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DCC0F-0C2B-7317-9CDD-802E6CB4C9D9}"/>
              </a:ext>
            </a:extLst>
          </p:cNvPr>
          <p:cNvSpPr txBox="1"/>
          <p:nvPr/>
        </p:nvSpPr>
        <p:spPr>
          <a:xfrm>
            <a:off x="6940447" y="2413420"/>
            <a:ext cx="44970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Coming from a BCA and data analytics background, I wanted to approach this problem through data. 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69517-70A6-B5BF-DC8B-C0967A5F298B}"/>
              </a:ext>
            </a:extLst>
          </p:cNvPr>
          <p:cNvSpPr txBox="1"/>
          <p:nvPr/>
        </p:nvSpPr>
        <p:spPr>
          <a:xfrm>
            <a:off x="6955438" y="3283963"/>
            <a:ext cx="4377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With practical farming knowledge from my family, I decided to build a simple data-driven farming project. </a:t>
            </a:r>
          </a:p>
        </p:txBody>
      </p:sp>
    </p:spTree>
    <p:extLst>
      <p:ext uri="{BB962C8B-B14F-4D97-AF65-F5344CB8AC3E}">
        <p14:creationId xmlns:p14="http://schemas.microsoft.com/office/powerpoint/2010/main" val="359029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EBF-73B2-2188-6E43-D85E8297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065" y="2372810"/>
            <a:ext cx="4352081" cy="2129742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7" name="Picture Placeholder 4" descr="A close-up of a field">
            <a:extLst>
              <a:ext uri="{FF2B5EF4-FFF2-40B4-BE49-F238E27FC236}">
                <a16:creationId xmlns:a16="http://schemas.microsoft.com/office/drawing/2014/main" id="{DA3FAC68-747F-999F-4EF5-874B39A6DD5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234" r="234"/>
          <a:stretch/>
        </p:blipFill>
        <p:spPr>
          <a:xfrm>
            <a:off x="6789480" y="0"/>
            <a:ext cx="5394960" cy="68580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885A6-2008-15E5-517B-3CBBFE99B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EBE7F-B815-2416-2A04-9D6336364911}"/>
              </a:ext>
            </a:extLst>
          </p:cNvPr>
          <p:cNvSpPr txBox="1"/>
          <p:nvPr/>
        </p:nvSpPr>
        <p:spPr>
          <a:xfrm>
            <a:off x="7120327" y="487025"/>
            <a:ext cx="469192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relevant farm information.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information into a structured Excel dataset.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prepare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data for analysis.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cultivation expenses, yield and revenue.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different crops and cultivation activities.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Visualise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important patterns using Excel charts.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insights</a:t>
            </a: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can support future farming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22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field of wheat with tracks in it">
            <a:extLst>
              <a:ext uri="{FF2B5EF4-FFF2-40B4-BE49-F238E27FC236}">
                <a16:creationId xmlns:a16="http://schemas.microsoft.com/office/drawing/2014/main" id="{5BA975B6-ACDF-974C-4B0A-792DE5F09C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50000"/>
          </a:blip>
          <a:srcRect/>
          <a:stretch/>
        </p:blipFill>
        <p:spPr>
          <a:xfrm>
            <a:off x="0" y="-2"/>
            <a:ext cx="12192000" cy="68580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5A606B-40BB-0837-4C69-199F95F122F1}"/>
              </a:ext>
            </a:extLst>
          </p:cNvPr>
          <p:cNvSpPr txBox="1"/>
          <p:nvPr/>
        </p:nvSpPr>
        <p:spPr>
          <a:xfrm>
            <a:off x="284813" y="599607"/>
            <a:ext cx="105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- The Challenge for a First-Time Farmer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845EE-6C3E-D4EF-CC9F-B9BD49A81B92}"/>
              </a:ext>
            </a:extLst>
          </p:cNvPr>
          <p:cNvSpPr txBox="1"/>
          <p:nvPr/>
        </p:nvSpPr>
        <p:spPr>
          <a:xfrm>
            <a:off x="974361" y="1753849"/>
            <a:ext cx="918897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🌱 Which crop should I cultivate?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How much will cultivation cost?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Where is most of the money being spent?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🌾 How much yield can I expect?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💵 What revenue can the crop generate?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 Which crop performs better?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 Can previous farm data help with future decisions?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07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  <a:ln>
            <a:noFill/>
          </a:ln>
        </p:spPr>
        <p:txBody>
          <a:bodyPr/>
          <a:lstStyle/>
          <a:p>
            <a:r>
              <a:rPr lang="en-IN" dirty="0"/>
              <a:t>CROPS &amp; CULTIVATION PLAN</a:t>
            </a:r>
            <a:endParaRPr lang="en-US" dirty="0"/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anchor="ctr"/>
          <a:lstStyle/>
          <a:p>
            <a:pPr marL="342900" indent="-342900">
              <a:buFont typeface="+mj-lt"/>
              <a:buAutoNum type="arabicPeriod"/>
            </a:pPr>
            <a:r>
              <a:rPr lang="en-IN" b="1" dirty="0"/>
              <a:t>Crops Considered</a:t>
            </a:r>
          </a:p>
          <a:p>
            <a:pPr marL="0" indent="0">
              <a:buNone/>
            </a:pPr>
            <a:r>
              <a:rPr lang="en-IN" dirty="0"/>
              <a:t>🌽 Maize</a:t>
            </a:r>
            <a:br>
              <a:rPr lang="en-IN" dirty="0"/>
            </a:br>
            <a:r>
              <a:rPr lang="en-IN" dirty="0"/>
              <a:t>🌱 Cotton</a:t>
            </a:r>
            <a:br>
              <a:rPr lang="en-IN" dirty="0"/>
            </a:br>
            <a:r>
              <a:rPr lang="en-IN" dirty="0"/>
              <a:t>🥬 Lady's Finger</a:t>
            </a:r>
          </a:p>
          <a:p>
            <a:pPr marL="0" indent="0">
              <a:buNone/>
            </a:pPr>
            <a:r>
              <a:rPr lang="en-IN" b="1" dirty="0"/>
              <a:t>2.   Cultivation Information</a:t>
            </a:r>
          </a:p>
          <a:p>
            <a:pPr marL="0" indent="0">
              <a:buNone/>
            </a:pPr>
            <a:r>
              <a:rPr lang="en-IN" i="1" dirty="0"/>
              <a:t>The dataset captures information such as: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dirty="0"/>
              <a:t>🌱 Cultivation Data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IN" dirty="0"/>
              <a:t>💰 Expense Data</a:t>
            </a:r>
            <a:br>
              <a:rPr lang="en-IN" dirty="0"/>
            </a:br>
            <a:r>
              <a:rPr lang="en-IN" dirty="0"/>
              <a:t>🌾 Production Data</a:t>
            </a:r>
            <a:br>
              <a:rPr lang="en-IN" dirty="0"/>
            </a:br>
            <a:r>
              <a:rPr lang="en-IN" dirty="0"/>
              <a:t>📊 Financial Data</a:t>
            </a:r>
            <a:br>
              <a:rPr lang="en-IN" dirty="0"/>
            </a:b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5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20" descr="Close up of green grass">
            <a:extLst>
              <a:ext uri="{FF2B5EF4-FFF2-40B4-BE49-F238E27FC236}">
                <a16:creationId xmlns:a16="http://schemas.microsoft.com/office/drawing/2014/main" id="{C082290F-76CE-97A7-ECB5-83B0FEA27B3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9009"/>
            <a:ext cx="5521124" cy="6878584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D15DC2-8425-2530-3D59-ABE5D5C4A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DFE961-228D-F979-D60E-0DF292476A51}"/>
              </a:ext>
            </a:extLst>
          </p:cNvPr>
          <p:cNvSpPr txBox="1"/>
          <p:nvPr/>
        </p:nvSpPr>
        <p:spPr>
          <a:xfrm>
            <a:off x="344774" y="2518345"/>
            <a:ext cx="45420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CC020-32B2-8752-487F-74C7CBA86B38}"/>
              </a:ext>
            </a:extLst>
          </p:cNvPr>
          <p:cNvSpPr txBox="1"/>
          <p:nvPr/>
        </p:nvSpPr>
        <p:spPr>
          <a:xfrm>
            <a:off x="5786203" y="479685"/>
            <a:ext cx="6061023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analysing the data, I checked for: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data types 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crop names 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units 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or invalid entries </a:t>
            </a:r>
          </a:p>
          <a:p>
            <a:pPr marL="342900" lvl="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expense categories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878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BA3D-9921-C7FC-BC8D-5FC0FFA6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980" y="706056"/>
            <a:ext cx="6323957" cy="1088020"/>
          </a:xfrm>
        </p:spPr>
        <p:txBody>
          <a:bodyPr/>
          <a:lstStyle/>
          <a:p>
            <a:r>
              <a:rPr lang="en-IN" dirty="0"/>
              <a:t>EXCEL ANALYSIS</a:t>
            </a:r>
            <a:endParaRPr lang="en-US" dirty="0"/>
          </a:p>
        </p:txBody>
      </p:sp>
      <p:pic>
        <p:nvPicPr>
          <p:cNvPr id="7" name="Picture Placeholder 26" descr="Arial view of an avenue of tree and pastures on either side">
            <a:extLst>
              <a:ext uri="{FF2B5EF4-FFF2-40B4-BE49-F238E27FC236}">
                <a16:creationId xmlns:a16="http://schemas.microsoft.com/office/drawing/2014/main" id="{839F036C-A908-D88B-93D2-2FC59D5D12A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495801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9A34E-6529-A0C2-1EEE-44E5D83178A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35563" y="2138040"/>
            <a:ext cx="3017837" cy="41209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Financial Metrics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cultivation cost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 acre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per acre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4B294B-3C01-ED06-AA96-7FF46F3D2A9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93163" y="2138040"/>
            <a:ext cx="3136127" cy="396722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🌱 Crop Metrics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cultivated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by crop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 by crop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by crop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by crop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90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4" descr="Close up of a plants">
            <a:extLst>
              <a:ext uri="{FF2B5EF4-FFF2-40B4-BE49-F238E27FC236}">
                <a16:creationId xmlns:a16="http://schemas.microsoft.com/office/drawing/2014/main" id="{D6CFF55D-EA3F-6E9D-3301-8FFC1310C3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7547548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EA18F1-1CB3-04BA-3FB2-530F2637A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A00DCF-B3F9-FE00-6CF1-E60D1C0BE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0533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00B512-5521-B543-01DA-F3BE51AD3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3307"/>
            <a:ext cx="12192000" cy="349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0043464-8822-C064-1A6F-CC7057BA84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7" t="2419" b="-1"/>
          <a:stretch>
            <a:fillRect/>
          </a:stretch>
        </p:blipFill>
        <p:spPr>
          <a:xfrm>
            <a:off x="2008680" y="0"/>
            <a:ext cx="7734926" cy="38859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D44EC2-3820-86C3-2C56-E8E3D6DFA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947" y="3219137"/>
            <a:ext cx="4746392" cy="344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09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682336-2973-D5FA-2FBF-7B9AA0E5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59" y="1"/>
            <a:ext cx="4952999" cy="2182482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Picture Placeholder 59" descr="A picture containing grass sprouting">
            <a:extLst>
              <a:ext uri="{FF2B5EF4-FFF2-40B4-BE49-F238E27FC236}">
                <a16:creationId xmlns:a16="http://schemas.microsoft.com/office/drawing/2014/main" id="{203BE455-3949-41E3-AD2E-8F6C87C383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" b="179"/>
          <a:stretch/>
        </p:blipFill>
        <p:spPr>
          <a:xfrm>
            <a:off x="4942932" y="0"/>
            <a:ext cx="7249067" cy="2182483"/>
          </a:xfrm>
        </p:spPr>
      </p:pic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22C2C2A-DE50-E0B7-C018-3DCB867E36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685" y="2458387"/>
            <a:ext cx="10865489" cy="377526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🌽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1: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crop had the highest cultivation cost?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2: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crop generated the highest revenue?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crop had the highest profit per acre?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🌱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4: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expense category consumed the largest share of the budget?</a:t>
            </a:r>
          </a:p>
          <a:p>
            <a:pPr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did profitability differ between crops?</a:t>
            </a:r>
          </a:p>
        </p:txBody>
      </p:sp>
    </p:spTree>
    <p:extLst>
      <p:ext uri="{BB962C8B-B14F-4D97-AF65-F5344CB8AC3E}">
        <p14:creationId xmlns:p14="http://schemas.microsoft.com/office/powerpoint/2010/main" val="1884517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333A-F73A-0D4C-D299-CE68CFEF6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095" y="806994"/>
            <a:ext cx="6385810" cy="47134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9092A-92F9-2B75-FC44-3FE47246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7306C-81BA-4795-A5CA-9392456A8C1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9A50BF8-669F-E500-D435-15223E5D52B7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59469" y="2209495"/>
            <a:ext cx="10494331" cy="3605840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cap="none" dirty="0"/>
              <a:t>Cotton Generated The Highest Profit Among The Analysed Crops.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cap="none" dirty="0"/>
              <a:t>Maize Generated The Highest Overall Revenue.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cap="none" dirty="0"/>
              <a:t>Cotton Achieved The Strongest Roi, Making It The Most Profitable Crop In The Current Analysis.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cap="none" dirty="0"/>
              <a:t>The February Cultivation Performed Better In Terms Of Profit Relative To The Cultivated Area Compared With The January Cultivation.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cap="none" dirty="0"/>
              <a:t>Lady's Finger Cultivation Costs And Selling Price Should Be Reviewed Before Expanding Its Cultivated Area.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cap="none" dirty="0"/>
              <a:t>Based On The Current Analysis, Cotton Shows The Strongest Overall Profitability And Roi Among The Analysed Crops.</a:t>
            </a:r>
          </a:p>
          <a:p>
            <a:endParaRPr lang="en-IN" cap="none" dirty="0"/>
          </a:p>
        </p:txBody>
      </p:sp>
    </p:spTree>
    <p:extLst>
      <p:ext uri="{BB962C8B-B14F-4D97-AF65-F5344CB8AC3E}">
        <p14:creationId xmlns:p14="http://schemas.microsoft.com/office/powerpoint/2010/main" val="2990327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CBCD3B-EAB4-87E8-85AB-C9DDB716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61" y="1541398"/>
            <a:ext cx="4442603" cy="212482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335026-4908-B82C-0C3C-4E5E0498CB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9647" y="3984427"/>
            <a:ext cx="6010678" cy="1332176"/>
          </a:xfrm>
        </p:spPr>
        <p:txBody>
          <a:bodyPr/>
          <a:lstStyle/>
          <a:p>
            <a:r>
              <a:rPr lang="en-US" b="1" dirty="0"/>
              <a:t>Dhaksha S</a:t>
            </a:r>
            <a:br>
              <a:rPr lang="en-US" dirty="0"/>
            </a:br>
            <a:r>
              <a:rPr lang="en-US" dirty="0">
                <a:hlinkClick r:id="rId2"/>
              </a:rPr>
              <a:t>dhakshasubramani@gmail.com</a:t>
            </a:r>
            <a:br>
              <a:rPr lang="en-US" dirty="0"/>
            </a:br>
            <a:r>
              <a:rPr lang="en-US" dirty="0">
                <a:hlinkClick r:id="rId3"/>
              </a:rPr>
              <a:t>https://www.linkedin.com/in/dhakshasubramani</a:t>
            </a:r>
            <a:endParaRPr lang="en-US" dirty="0"/>
          </a:p>
        </p:txBody>
      </p:sp>
      <p:pic>
        <p:nvPicPr>
          <p:cNvPr id="15" name="Picture Placeholder 14" descr="A close up of a leaf">
            <a:extLst>
              <a:ext uri="{FF2B5EF4-FFF2-40B4-BE49-F238E27FC236}">
                <a16:creationId xmlns:a16="http://schemas.microsoft.com/office/drawing/2014/main" id="{C59CFD32-0A41-78F6-63F2-D8BBA2F23D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55" r="55"/>
          <a:stretch/>
        </p:blipFill>
        <p:spPr>
          <a:xfrm>
            <a:off x="6771736" y="0"/>
            <a:ext cx="5420263" cy="6858000"/>
          </a:xfrm>
        </p:spPr>
      </p:pic>
    </p:spTree>
    <p:extLst>
      <p:ext uri="{BB962C8B-B14F-4D97-AF65-F5344CB8AC3E}">
        <p14:creationId xmlns:p14="http://schemas.microsoft.com/office/powerpoint/2010/main" val="30101510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175_Win32_SL_V6" id="{2596AF0E-92BF-4F5A-A2A1-B1C9D33CD0CE}" vid="{0709752F-9199-467A-B305-5274ECB68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{B23B2B83-3CA0-463D-AEDB-CCEDD92F130C}TF8c6975b0-03aa-48e8-8a23-2a6072f108da7bca746b_win32-937fb968a2bf</Template>
  <TotalTime>86</TotalTime>
  <Words>504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Tenorite </vt:lpstr>
      <vt:lpstr>Tenorite Bold</vt:lpstr>
      <vt:lpstr>Times New Roman</vt:lpstr>
      <vt:lpstr>Custom</vt:lpstr>
      <vt:lpstr>PowerPoint Presentation</vt:lpstr>
      <vt:lpstr>WHY I CREATED THIS PROJECT</vt:lpstr>
      <vt:lpstr>OBJECTIVE</vt:lpstr>
      <vt:lpstr>PowerPoint Presentation</vt:lpstr>
      <vt:lpstr>CROPS &amp; CULTIVATION PLAN</vt:lpstr>
      <vt:lpstr>PowerPoint Presentation</vt:lpstr>
      <vt:lpstr>EXCEL ANALYSIS</vt:lpstr>
      <vt:lpstr>PowerPoint Presentation</vt:lpstr>
      <vt:lpstr>PowerPoint Presentation</vt:lpstr>
      <vt:lpstr>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S0345790</dc:creator>
  <cp:lastModifiedBy>S0345790</cp:lastModifiedBy>
  <cp:revision>2</cp:revision>
  <dcterms:created xsi:type="dcterms:W3CDTF">2026-09-02T05:09:22Z</dcterms:created>
  <dcterms:modified xsi:type="dcterms:W3CDTF">2026-09-02T06:35:57Z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